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Bold"/>
      <p:regular r:id="rId201316"/>
    </p:embeddedFont>
    <p:embeddedFont>
      <p:font typeface="Open Sans"/>
      <p:regular r:id="rId201317"/>
    </p:embeddedFont>
    <p:embeddedFont>
      <p:font typeface="Open Sans Semi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4.png"/><Relationship Id="rId7" Type="http://schemas.openxmlformats.org/officeDocument/2006/relationships/image" Target="../media/image-2-5.sv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SPSP — Sistema de Prestação de Serviços da Prefeitura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4928568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municipal de solicitações e serviços públicos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0" y="132854"/>
            <a:ext cx="4394685" cy="65921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8566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Desafio Municipal</a:t>
            </a:r>
            <a:endParaRPr lang="en-US" sz="3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391444"/>
            <a:ext cx="6296860" cy="1318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05808" y="1587698"/>
            <a:ext cx="582816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Fragmentação de Dados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5505808" y="1964234"/>
            <a:ext cx="582816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Usuários, endereços, serviços e solicitações espalhados por sistemas distintos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875855"/>
            <a:ext cx="6296860" cy="104368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05808" y="3072110"/>
            <a:ext cx="582816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Falta de Centralização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5505808" y="3448645"/>
            <a:ext cx="5828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Acompanhamento de atendimentos fragmentado e ineficiente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085630"/>
            <a:ext cx="6296860" cy="10436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05808" y="4281884"/>
            <a:ext cx="582816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Ausência de Indicadores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5505808" y="4658420"/>
            <a:ext cx="5828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Impossível visualizar métricas de desempenho em tempo real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5233360" y="5316141"/>
            <a:ext cx="6296860" cy="953294"/>
          </a:xfrm>
          <a:prstGeom prst="roundRect">
            <a:avLst>
              <a:gd name="adj" fmla="val 2788"/>
            </a:avLst>
          </a:prstGeom>
          <a:solidFill>
            <a:srgbClr val="D7D6F5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561" y="5555555"/>
            <a:ext cx="221451" cy="1772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809212" y="5526484"/>
            <a:ext cx="554380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 SPSP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uma solução integrada para organizar cadastros e acompanhar solicitações de forma centralizada.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20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Que o Sistema Permite Fazer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107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71075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Cadastros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119438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Usuários, endereços, secretarias, serviços e funcionários em um só lugar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7107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71075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Solicitações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3119438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Registro, edição, consulta e exclusão de pedidos de serviços públicos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410229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Acompanhamento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510980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Visualização do status de cada solicitação em tempo real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410229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Organização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4510980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Relacionamentos entre registros para evitar duplicação de dados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Arquitetura Tecnológica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60562"/>
            <a:ext cx="6908330" cy="3775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455" y="3729410"/>
            <a:ext cx="1600713" cy="217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614527" y="3704848"/>
            <a:ext cx="1600712" cy="21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API FastAPI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639951" y="3712712"/>
            <a:ext cx="1600713" cy="217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Banco MySQL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022826" y="1561306"/>
            <a:ext cx="3513645" cy="1406327"/>
          </a:xfrm>
          <a:prstGeom prst="roundRect">
            <a:avLst>
              <a:gd name="adj" fmla="val 1953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8205880" y="1744365"/>
            <a:ext cx="31475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05880" y="2207716"/>
            <a:ext cx="3147537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HTML5, CSS3 e JavaScript puro com ES Modules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22826" y="3144937"/>
            <a:ext cx="3513645" cy="1406327"/>
          </a:xfrm>
          <a:prstGeom prst="roundRect">
            <a:avLst>
              <a:gd name="adj" fmla="val 1953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8205880" y="3327995"/>
            <a:ext cx="31475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05880" y="3791347"/>
            <a:ext cx="3147537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com FastAPI e documentação Swagger/OpenAPI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22826" y="4728567"/>
            <a:ext cx="3513645" cy="1406327"/>
          </a:xfrm>
          <a:prstGeom prst="roundRect">
            <a:avLst>
              <a:gd name="adj" fmla="val 1953"/>
            </a:avLst>
          </a:prstGeom>
          <a:solidFill>
            <a:srgbClr val="EAE8F3"/>
          </a:solidFill>
          <a:ln/>
        </p:spPr>
      </p:sp>
      <p:sp>
        <p:nvSpPr>
          <p:cNvPr id="14" name="Text 11"/>
          <p:cNvSpPr/>
          <p:nvPr/>
        </p:nvSpPr>
        <p:spPr>
          <a:xfrm>
            <a:off x="8205880" y="4911626"/>
            <a:ext cx="31475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Banco de Dados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05880" y="5374977"/>
            <a:ext cx="3147537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MySQL com comunicação via API REST e JSON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86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Interface e Experiência do Usuário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67298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457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Navegação Intuitiva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54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Menu lateral, cabeçalho e cartões de indicadores para acesso rápido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667298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1457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Formulários Inteligentes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554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Validação em tempo real, dropdowns e autocomplete para evitar erros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667298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1457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Páginas Dedicadas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554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Dashboard, usuários, endereços, secretarias, serviços e solicitações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35" y="126206"/>
            <a:ext cx="4403615" cy="6605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24694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Validações e Qualidade dos Dados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61985" y="2228155"/>
            <a:ext cx="241442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Validação de Entrada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761985" y="2641104"/>
            <a:ext cx="2414428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E-mail, telefone, CEP, UF, datas e campos obrigatórios verificados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61985" y="3762573"/>
            <a:ext cx="241442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Máscaras Automáticas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761985" y="4175522"/>
            <a:ext cx="241442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Telefone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(11) 99999-9999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CEP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00000-000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1985" y="5042396"/>
            <a:ext cx="241442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Bloqueios Inteligentes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761985" y="5455345"/>
            <a:ext cx="241442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de solicitação não pode ser posterior ao dia atual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22142" y="2228155"/>
            <a:ext cx="241442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Validação Dupla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122142" y="2641104"/>
            <a:ext cx="241442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backend garantem integridade total dos dados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22142" y="3507978"/>
            <a:ext cx="2414428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Verificação de Relacionamentos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122142" y="4183955"/>
            <a:ext cx="2414428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Confirma existência de usuário, secretaria, serviço, endereço e funcionário antes de salvar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e Indicadores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77336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Visualizações em Tempo Real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570" y="2985095"/>
            <a:ext cx="146146" cy="1461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37757" y="2982119"/>
            <a:ext cx="4998813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Gráfico de Pizza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537757" y="3184624"/>
            <a:ext cx="499881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Solicitações ativas distribuídas por secretaria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7570" y="3406180"/>
            <a:ext cx="146146" cy="14614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37757" y="3403203"/>
            <a:ext cx="4998813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Barras Verticais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6537757" y="3605709"/>
            <a:ext cx="499881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Quantidade de funcionários por secretaria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7570" y="3827264"/>
            <a:ext cx="146146" cy="14614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37757" y="3824288"/>
            <a:ext cx="4998813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Barras Horizontais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537757" y="4026793"/>
            <a:ext cx="499881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Ranking dos serviços mais solicitados</a:t>
            </a:r>
            <a:endParaRPr lang="en-US" sz="750" dirty="0"/>
          </a:p>
        </p:txBody>
      </p:sp>
      <p:sp>
        <p:nvSpPr>
          <p:cNvPr id="14" name="Shape 8"/>
          <p:cNvSpPr/>
          <p:nvPr/>
        </p:nvSpPr>
        <p:spPr>
          <a:xfrm>
            <a:off x="6221058" y="4201319"/>
            <a:ext cx="5315512" cy="256977"/>
          </a:xfrm>
          <a:prstGeom prst="roundRect">
            <a:avLst>
              <a:gd name="adj" fmla="val 5689"/>
            </a:avLst>
          </a:prstGeom>
          <a:solidFill>
            <a:srgbClr val="D7D6F5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489" y="4285754"/>
            <a:ext cx="121738" cy="974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37658" y="4270772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Todos os gráficos criados com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JavaScript, HTML e CSS puros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sem bibliotecas externas.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75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Como Funcionam os Gráficos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944936" y="2342257"/>
            <a:ext cx="3213317" cy="189012"/>
          </a:xfrm>
          <a:prstGeom prst="roundRect">
            <a:avLst>
              <a:gd name="adj" fmla="val 15001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909292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Carregamento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317974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Dados JSON chegam da API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630820" y="2058690"/>
            <a:ext cx="3213317" cy="189012"/>
          </a:xfrm>
          <a:prstGeom prst="roundRect">
            <a:avLst>
              <a:gd name="adj" fmla="val 15001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262572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Processamento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034407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JS agrupa e conta por chave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316704" y="1775222"/>
            <a:ext cx="3213317" cy="189012"/>
          </a:xfrm>
          <a:prstGeom prst="roundRect">
            <a:avLst>
              <a:gd name="adj" fmla="val 15001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234225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Cálculo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275093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Valores convertidos em porcentagens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44936" y="4754463"/>
            <a:ext cx="3213317" cy="189012"/>
          </a:xfrm>
          <a:prstGeom prst="roundRect">
            <a:avLst>
              <a:gd name="adj" fmla="val 15001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850482" y="5321498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Renderização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5730180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Pizza: conic-gradient; barras: divs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30820" y="4470896"/>
            <a:ext cx="3213317" cy="189012"/>
          </a:xfrm>
          <a:prstGeom prst="roundRect">
            <a:avLst>
              <a:gd name="adj" fmla="val 15001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4536366" y="503793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 Resultado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536366" y="5446613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Visualização em tempo real no dashboard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2153196"/>
            <a:ext cx="567021" cy="567035"/>
          </a:xfrm>
          <a:prstGeom prst="ellipse">
            <a:avLst/>
          </a:prstGeom>
          <a:solidFill>
            <a:srgbClr val="EAE8F3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55" y="2294979"/>
            <a:ext cx="283461" cy="28346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347359" y="1869629"/>
            <a:ext cx="567021" cy="567035"/>
          </a:xfrm>
          <a:prstGeom prst="ellipse">
            <a:avLst/>
          </a:prstGeom>
          <a:solidFill>
            <a:srgbClr val="EAE8F3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139" y="2011412"/>
            <a:ext cx="283461" cy="28346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033244" y="1586161"/>
            <a:ext cx="567021" cy="567035"/>
          </a:xfrm>
          <a:prstGeom prst="ellipse">
            <a:avLst/>
          </a:prstGeom>
          <a:solidFill>
            <a:srgbClr val="EAE8F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024" y="1727944"/>
            <a:ext cx="283461" cy="28346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61475" y="4565402"/>
            <a:ext cx="567021" cy="567035"/>
          </a:xfrm>
          <a:prstGeom prst="ellipse">
            <a:avLst/>
          </a:prstGeom>
          <a:solidFill>
            <a:srgbClr val="EAE8F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55" y="4707186"/>
            <a:ext cx="283461" cy="28346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347359" y="4281835"/>
            <a:ext cx="567021" cy="567035"/>
          </a:xfrm>
          <a:prstGeom prst="ellipse">
            <a:avLst/>
          </a:prstGeom>
          <a:solidFill>
            <a:srgbClr val="EAE8F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39" y="4423618"/>
            <a:ext cx="283461" cy="2834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392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Design Visual e Identidade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097756"/>
            <a:ext cx="108687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Paleta de Cores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61475" y="1560909"/>
            <a:ext cx="2612563" cy="1229320"/>
          </a:xfrm>
          <a:prstGeom prst="roundRect">
            <a:avLst>
              <a:gd name="adj" fmla="val 1982"/>
            </a:avLst>
          </a:prstGeom>
          <a:solidFill>
            <a:srgbClr val="7044D7"/>
          </a:solidFill>
          <a:ln/>
        </p:spPr>
      </p:sp>
      <p:sp>
        <p:nvSpPr>
          <p:cNvPr id="5" name="Text 3"/>
          <p:cNvSpPr/>
          <p:nvPr/>
        </p:nvSpPr>
        <p:spPr>
          <a:xfrm>
            <a:off x="823892" y="1723330"/>
            <a:ext cx="228772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Roxo Principal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3892" y="2060873"/>
            <a:ext cx="2287729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65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#7044D7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536" y="1560909"/>
            <a:ext cx="2612563" cy="1229320"/>
          </a:xfrm>
          <a:prstGeom prst="roundRect">
            <a:avLst>
              <a:gd name="adj" fmla="val 1982"/>
            </a:avLst>
          </a:prstGeom>
          <a:solidFill>
            <a:srgbClr val="4F259F"/>
          </a:solidFill>
          <a:ln/>
        </p:spPr>
      </p:sp>
      <p:sp>
        <p:nvSpPr>
          <p:cNvPr id="8" name="Text 6"/>
          <p:cNvSpPr/>
          <p:nvPr/>
        </p:nvSpPr>
        <p:spPr>
          <a:xfrm>
            <a:off x="3575953" y="1723330"/>
            <a:ext cx="228772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Roxo Escuro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575953" y="2060873"/>
            <a:ext cx="2287729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65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#4F259F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65597" y="1560909"/>
            <a:ext cx="2612563" cy="1229320"/>
          </a:xfrm>
          <a:prstGeom prst="roundRect">
            <a:avLst>
              <a:gd name="adj" fmla="val 1982"/>
            </a:avLst>
          </a:prstGeom>
          <a:solidFill>
            <a:srgbClr val="EEE9FD"/>
          </a:solidFill>
          <a:ln/>
        </p:spPr>
      </p:sp>
      <p:sp>
        <p:nvSpPr>
          <p:cNvPr id="11" name="Text 9"/>
          <p:cNvSpPr/>
          <p:nvPr/>
        </p:nvSpPr>
        <p:spPr>
          <a:xfrm>
            <a:off x="6328014" y="1723330"/>
            <a:ext cx="228772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Roxo Claro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28014" y="2060873"/>
            <a:ext cx="2287729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6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#EEE9FD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7657" y="1560909"/>
            <a:ext cx="2612563" cy="1229320"/>
          </a:xfrm>
          <a:prstGeom prst="roundRect">
            <a:avLst>
              <a:gd name="adj" fmla="val 1982"/>
            </a:avLst>
          </a:prstGeom>
          <a:solidFill>
            <a:srgbClr val="F7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9080074" y="1723330"/>
            <a:ext cx="228772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Fundo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080074" y="2060873"/>
            <a:ext cx="2287729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6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#F7F5FB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1475" y="2929731"/>
            <a:ext cx="5364624" cy="1229320"/>
          </a:xfrm>
          <a:prstGeom prst="roundRect">
            <a:avLst>
              <a:gd name="adj" fmla="val 1982"/>
            </a:avLst>
          </a:prstGeom>
          <a:solidFill>
            <a:srgbClr val="211937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92" y="3092152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Texto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3892" y="3429695"/>
            <a:ext cx="5039790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65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#211937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65597" y="2929731"/>
            <a:ext cx="5364624" cy="1229320"/>
          </a:xfrm>
          <a:prstGeom prst="roundRect">
            <a:avLst>
              <a:gd name="adj" fmla="val 1982"/>
            </a:avLst>
          </a:prstGeom>
          <a:solidFill>
            <a:srgbClr val="C23D5A"/>
          </a:solidFill>
          <a:ln/>
        </p:spPr>
      </p:sp>
      <p:sp>
        <p:nvSpPr>
          <p:cNvPr id="20" name="Text 18"/>
          <p:cNvSpPr/>
          <p:nvPr/>
        </p:nvSpPr>
        <p:spPr>
          <a:xfrm>
            <a:off x="6328014" y="3092152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Alerta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328014" y="3429695"/>
            <a:ext cx="5039790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65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#C23D5A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1475" y="435659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9495A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4712692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Tipografia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61475" y="5105995"/>
            <a:ext cx="5236238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DM Sans</a:t>
            </a:r>
            <a:endParaRPr lang="en-US" sz="1250" dirty="0"/>
          </a:p>
          <a:p>
            <a:pPr algn="l" indent="0" marL="0">
              <a:lnSpc>
                <a:spcPct val="124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Texto corrido e componentes de apoio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Outfit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Títulos e destaques institucionais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0332" y="4712692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Princípios de Design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300332" y="5105995"/>
            <a:ext cx="5236238" cy="82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Estilo moderno, limpo e institucional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Foco em acessibilidade e contraste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Linguagem visual isométrica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3945" y="126206"/>
            <a:ext cx="4403615" cy="6605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65076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Conclusão e Próximos Passos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61475" y="1684635"/>
            <a:ext cx="2943052" cy="1513284"/>
          </a:xfrm>
          <a:prstGeom prst="roundRect">
            <a:avLst>
              <a:gd name="adj" fmla="val 1669"/>
            </a:avLst>
          </a:prstGeom>
          <a:solidFill>
            <a:srgbClr val="EAE8F3"/>
          </a:solidFill>
          <a:ln/>
        </p:spPr>
      </p:sp>
      <p:sp>
        <p:nvSpPr>
          <p:cNvPr id="6" name="Text 3"/>
          <p:cNvSpPr/>
          <p:nvPr/>
        </p:nvSpPr>
        <p:spPr>
          <a:xfrm>
            <a:off x="829746" y="1852910"/>
            <a:ext cx="260651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🏛️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Hoje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29746" y="2265859"/>
            <a:ext cx="260651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SPSP centraliza cadastros, solicitações e indicadores municipais em um único sistema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3347839"/>
            <a:ext cx="2943052" cy="1513284"/>
          </a:xfrm>
          <a:prstGeom prst="roundRect">
            <a:avLst>
              <a:gd name="adj" fmla="val 1669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829746" y="3516114"/>
            <a:ext cx="260651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Benefícios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9746" y="3929062"/>
            <a:ext cx="260651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de dados, visualização em tempo real e experiência de uso simplificada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21632" y="1665883"/>
            <a:ext cx="294305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Próximas Melhorias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021632" y="2097584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021632" y="2364581"/>
            <a:ext cx="2943052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4" name="Text 11"/>
          <p:cNvSpPr/>
          <p:nvPr/>
        </p:nvSpPr>
        <p:spPr>
          <a:xfrm>
            <a:off x="4021632" y="2486819"/>
            <a:ext cx="2943052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Autenticação e Perfis de Acesso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021632" y="3289002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021632" y="3539133"/>
            <a:ext cx="2943052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7" name="Text 14"/>
          <p:cNvSpPr/>
          <p:nvPr/>
        </p:nvSpPr>
        <p:spPr>
          <a:xfrm>
            <a:off x="4021632" y="3678238"/>
            <a:ext cx="294305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Histórico de Alterações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021632" y="4217392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021632" y="4450755"/>
            <a:ext cx="2943052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20" name="Text 17"/>
          <p:cNvSpPr/>
          <p:nvPr/>
        </p:nvSpPr>
        <p:spPr>
          <a:xfrm>
            <a:off x="4021632" y="4606627"/>
            <a:ext cx="294305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Filtros Avançados e Mapas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4021632" y="5145782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021632" y="5362277"/>
            <a:ext cx="2943052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23" name="Text 20"/>
          <p:cNvSpPr/>
          <p:nvPr/>
        </p:nvSpPr>
        <p:spPr>
          <a:xfrm>
            <a:off x="4021632" y="5535017"/>
            <a:ext cx="294305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Relatórios Exportáveis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2026-09-04T14:13:08Z</dcterms:created>
  <dcterms:modified xsi:type="dcterms:W3CDTF">2026-09-04T14:13:08Z</dcterms:modified>
</cp:coreProperties>
</file>